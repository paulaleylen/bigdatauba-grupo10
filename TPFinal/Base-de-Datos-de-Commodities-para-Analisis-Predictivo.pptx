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4163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Montserrat" panose="000005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43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Ramirez" userId="6964f403329964a4" providerId="LiveId" clId="{2119FEDC-D0A1-430C-87CD-13A99A30C60E}"/>
    <pc:docChg chg="undo custSel addSld modSld">
      <pc:chgData name="Paula Ramirez" userId="6964f403329964a4" providerId="LiveId" clId="{2119FEDC-D0A1-430C-87CD-13A99A30C60E}" dt="2025-11-05T01:45:53.866" v="21" actId="1076"/>
      <pc:docMkLst>
        <pc:docMk/>
      </pc:docMkLst>
      <pc:sldChg chg="modSp mod">
        <pc:chgData name="Paula Ramirez" userId="6964f403329964a4" providerId="LiveId" clId="{2119FEDC-D0A1-430C-87CD-13A99A30C60E}" dt="2025-11-05T01:45:53.866" v="21" actId="1076"/>
        <pc:sldMkLst>
          <pc:docMk/>
          <pc:sldMk cId="0" sldId="260"/>
        </pc:sldMkLst>
        <pc:spChg chg="mod">
          <ac:chgData name="Paula Ramirez" userId="6964f403329964a4" providerId="LiveId" clId="{2119FEDC-D0A1-430C-87CD-13A99A30C60E}" dt="2025-11-05T01:45:51.339" v="20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Paula Ramirez" userId="6964f403329964a4" providerId="LiveId" clId="{2119FEDC-D0A1-430C-87CD-13A99A30C60E}" dt="2025-11-05T01:45:53.866" v="21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Paula Ramirez" userId="6964f403329964a4" providerId="LiveId" clId="{2119FEDC-D0A1-430C-87CD-13A99A30C60E}" dt="2025-11-05T01:45:39.613" v="18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Paula Ramirez" userId="6964f403329964a4" providerId="LiveId" clId="{2119FEDC-D0A1-430C-87CD-13A99A30C60E}" dt="2025-11-03T22:27:37.709" v="1" actId="1076"/>
          <ac:spMkLst>
            <pc:docMk/>
            <pc:sldMk cId="0" sldId="260"/>
            <ac:spMk id="21" creationId="{D7461A31-940B-5457-FC93-4817A8B567F8}"/>
          </ac:spMkLst>
        </pc:spChg>
      </pc:sldChg>
      <pc:sldChg chg="addSp delSp modSp new mod setBg">
        <pc:chgData name="Paula Ramirez" userId="6964f403329964a4" providerId="LiveId" clId="{2119FEDC-D0A1-430C-87CD-13A99A30C60E}" dt="2025-11-05T01:45:18.172" v="17" actId="1076"/>
        <pc:sldMkLst>
          <pc:docMk/>
          <pc:sldMk cId="3227503522" sldId="265"/>
        </pc:sldMkLst>
        <pc:spChg chg="add del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8" creationId="{AB8C311F-7253-4AED-9701-7FC0708C41C7}"/>
          </ac:spMkLst>
        </pc:spChg>
        <pc:spChg chg="add del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10" creationId="{E2384209-CB15-4CDF-9D31-C44FD9A3F20D}"/>
          </ac:spMkLst>
        </pc:spChg>
        <pc:spChg chg="add del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12" creationId="{2633B3B5-CC90-43F0-8714-D31D1F3F0209}"/>
          </ac:spMkLst>
        </pc:spChg>
        <pc:spChg chg="add del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14" creationId="{A8D57A06-A426-446D-B02C-A2DC6B62E45E}"/>
          </ac:spMkLst>
        </pc:spChg>
        <pc:spChg chg="add del">
          <ac:chgData name="Paula Ramirez" userId="6964f403329964a4" providerId="LiveId" clId="{2119FEDC-D0A1-430C-87CD-13A99A30C60E}" dt="2025-11-05T01:44:49.782" v="11" actId="26606"/>
          <ac:spMkLst>
            <pc:docMk/>
            <pc:sldMk cId="3227503522" sldId="265"/>
            <ac:spMk id="19" creationId="{AB8C311F-7253-4AED-9701-7FC0708C41C7}"/>
          </ac:spMkLst>
        </pc:spChg>
        <pc:spChg chg="add del">
          <ac:chgData name="Paula Ramirez" userId="6964f403329964a4" providerId="LiveId" clId="{2119FEDC-D0A1-430C-87CD-13A99A30C60E}" dt="2025-11-05T01:44:49.782" v="11" actId="26606"/>
          <ac:spMkLst>
            <pc:docMk/>
            <pc:sldMk cId="3227503522" sldId="265"/>
            <ac:spMk id="21" creationId="{E2384209-CB15-4CDF-9D31-C44FD9A3F20D}"/>
          </ac:spMkLst>
        </pc:spChg>
        <pc:spChg chg="add del">
          <ac:chgData name="Paula Ramirez" userId="6964f403329964a4" providerId="LiveId" clId="{2119FEDC-D0A1-430C-87CD-13A99A30C60E}" dt="2025-11-05T01:44:49.782" v="11" actId="26606"/>
          <ac:spMkLst>
            <pc:docMk/>
            <pc:sldMk cId="3227503522" sldId="265"/>
            <ac:spMk id="23" creationId="{2633B3B5-CC90-43F0-8714-D31D1F3F0209}"/>
          </ac:spMkLst>
        </pc:spChg>
        <pc:spChg chg="add del">
          <ac:chgData name="Paula Ramirez" userId="6964f403329964a4" providerId="LiveId" clId="{2119FEDC-D0A1-430C-87CD-13A99A30C60E}" dt="2025-11-05T01:44:49.782" v="11" actId="26606"/>
          <ac:spMkLst>
            <pc:docMk/>
            <pc:sldMk cId="3227503522" sldId="265"/>
            <ac:spMk id="25" creationId="{A8D57A06-A426-446D-B02C-A2DC6B62E45E}"/>
          </ac:spMkLst>
        </pc:spChg>
        <pc:spChg chg="add del">
          <ac:chgData name="Paula Ramirez" userId="6964f403329964a4" providerId="LiveId" clId="{2119FEDC-D0A1-430C-87CD-13A99A30C60E}" dt="2025-11-05T01:44:52.224" v="13" actId="26606"/>
          <ac:spMkLst>
            <pc:docMk/>
            <pc:sldMk cId="3227503522" sldId="265"/>
            <ac:spMk id="27" creationId="{AB8C311F-7253-4AED-9701-7FC0708C41C7}"/>
          </ac:spMkLst>
        </pc:spChg>
        <pc:spChg chg="add del">
          <ac:chgData name="Paula Ramirez" userId="6964f403329964a4" providerId="LiveId" clId="{2119FEDC-D0A1-430C-87CD-13A99A30C60E}" dt="2025-11-05T01:44:52.224" v="13" actId="26606"/>
          <ac:spMkLst>
            <pc:docMk/>
            <pc:sldMk cId="3227503522" sldId="265"/>
            <ac:spMk id="28" creationId="{E2384209-CB15-4CDF-9D31-C44FD9A3F20D}"/>
          </ac:spMkLst>
        </pc:spChg>
        <pc:spChg chg="add del">
          <ac:chgData name="Paula Ramirez" userId="6964f403329964a4" providerId="LiveId" clId="{2119FEDC-D0A1-430C-87CD-13A99A30C60E}" dt="2025-11-05T01:44:52.224" v="13" actId="26606"/>
          <ac:spMkLst>
            <pc:docMk/>
            <pc:sldMk cId="3227503522" sldId="265"/>
            <ac:spMk id="29" creationId="{2633B3B5-CC90-43F0-8714-D31D1F3F0209}"/>
          </ac:spMkLst>
        </pc:spChg>
        <pc:spChg chg="add del">
          <ac:chgData name="Paula Ramirez" userId="6964f403329964a4" providerId="LiveId" clId="{2119FEDC-D0A1-430C-87CD-13A99A30C60E}" dt="2025-11-05T01:44:52.224" v="13" actId="26606"/>
          <ac:spMkLst>
            <pc:docMk/>
            <pc:sldMk cId="3227503522" sldId="265"/>
            <ac:spMk id="30" creationId="{A8D57A06-A426-446D-B02C-A2DC6B62E45E}"/>
          </ac:spMkLst>
        </pc:spChg>
        <pc:spChg chg="add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32" creationId="{AB8C311F-7253-4AED-9701-7FC0708C41C7}"/>
          </ac:spMkLst>
        </pc:spChg>
        <pc:spChg chg="add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33" creationId="{E2384209-CB15-4CDF-9D31-C44FD9A3F20D}"/>
          </ac:spMkLst>
        </pc:spChg>
        <pc:spChg chg="add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34" creationId="{2633B3B5-CC90-43F0-8714-D31D1F3F0209}"/>
          </ac:spMkLst>
        </pc:spChg>
        <pc:spChg chg="add">
          <ac:chgData name="Paula Ramirez" userId="6964f403329964a4" providerId="LiveId" clId="{2119FEDC-D0A1-430C-87CD-13A99A30C60E}" dt="2025-11-05T01:44:52.228" v="14" actId="26606"/>
          <ac:spMkLst>
            <pc:docMk/>
            <pc:sldMk cId="3227503522" sldId="265"/>
            <ac:spMk id="35" creationId="{A8D57A06-A426-446D-B02C-A2DC6B62E45E}"/>
          </ac:spMkLst>
        </pc:spChg>
        <pc:picChg chg="add del mod">
          <ac:chgData name="Paula Ramirez" userId="6964f403329964a4" providerId="LiveId" clId="{2119FEDC-D0A1-430C-87CD-13A99A30C60E}" dt="2025-11-05T01:44:30.857" v="8" actId="478"/>
          <ac:picMkLst>
            <pc:docMk/>
            <pc:sldMk cId="3227503522" sldId="265"/>
            <ac:picMk id="3" creationId="{CC76CAC5-F7E8-1AEE-8B9D-799E9140028E}"/>
          </ac:picMkLst>
        </pc:picChg>
        <pc:picChg chg="add mod">
          <ac:chgData name="Paula Ramirez" userId="6964f403329964a4" providerId="LiveId" clId="{2119FEDC-D0A1-430C-87CD-13A99A30C60E}" dt="2025-11-05T01:45:18.172" v="17" actId="1076"/>
          <ac:picMkLst>
            <pc:docMk/>
            <pc:sldMk cId="3227503522" sldId="265"/>
            <ac:picMk id="5" creationId="{F7C48227-DC3C-BB2B-7403-1E6BBC4B3D8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56808B-C825-7DDC-463D-056C705ADA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C8A25-50AD-674A-D512-17E1204CDD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A79D8-C316-44EF-92F6-2AC9295D57BF}" type="datetimeFigureOut">
              <a:rPr lang="es-AR" smtClean="0"/>
              <a:t>4/11/2025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812C2-827E-2B58-55EB-90E5445868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11561-1DAA-683B-85AB-C07983C83F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89F38-F18D-48E6-B6A3-B425E59D0EE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47710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78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1683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619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635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200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180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31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072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231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20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5656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63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92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226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215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804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41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584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740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560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1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93C59-8DEE-4A37-9DB1-4EB5B756191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988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4" r:id="rId1"/>
    <p:sldLayoutId id="2147484165" r:id="rId2"/>
    <p:sldLayoutId id="2147484166" r:id="rId3"/>
    <p:sldLayoutId id="2147484167" r:id="rId4"/>
    <p:sldLayoutId id="2147484168" r:id="rId5"/>
    <p:sldLayoutId id="2147484169" r:id="rId6"/>
    <p:sldLayoutId id="2147484170" r:id="rId7"/>
    <p:sldLayoutId id="2147484171" r:id="rId8"/>
    <p:sldLayoutId id="2147484172" r:id="rId9"/>
    <p:sldLayoutId id="2147484173" r:id="rId10"/>
    <p:sldLayoutId id="2147484174" r:id="rId11"/>
    <p:sldLayoutId id="2147484175" r:id="rId12"/>
    <p:sldLayoutId id="2147484176" r:id="rId13"/>
    <p:sldLayoutId id="2147484177" r:id="rId14"/>
    <p:sldLayoutId id="2147484178" r:id="rId15"/>
    <p:sldLayoutId id="2147484179" r:id="rId16"/>
    <p:sldLayoutId id="2147484180" r:id="rId17"/>
    <p:sldLayoutId id="2147484181" r:id="rId18"/>
    <p:sldLayoutId id="2147484182" r:id="rId19"/>
    <p:sldLayoutId id="2147484183" r:id="rId20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  <p:txBody>
          <a:bodyPr/>
          <a:lstStyle/>
          <a:p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1792643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Base de Datos de Precios de Commodities para Análisis Predictivo</a:t>
            </a:r>
            <a:endParaRPr lang="en-US" sz="44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2"/>
          <p:cNvSpPr/>
          <p:nvPr/>
        </p:nvSpPr>
        <p:spPr>
          <a:xfrm>
            <a:off x="758309" y="3474855"/>
            <a:ext cx="131137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Un pipeline automatizado de descarga, procesamiento y feature engineering</a:t>
            </a:r>
            <a:endParaRPr lang="en-US" sz="3550" dirty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3"/>
          <p:cNvSpPr/>
          <p:nvPr/>
        </p:nvSpPr>
        <p:spPr>
          <a:xfrm>
            <a:off x="758309" y="5386626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Materia: Taller de Programación | UBA - FCE</a:t>
            </a:r>
            <a:endParaRPr lang="en-US" sz="24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A8A571C-FAD7-7606-765D-9C5ACED0A2BD}"/>
              </a:ext>
            </a:extLst>
          </p:cNvPr>
          <p:cNvSpPr/>
          <p:nvPr/>
        </p:nvSpPr>
        <p:spPr>
          <a:xfrm>
            <a:off x="758309" y="5925783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10</a:t>
            </a:r>
            <a:r>
              <a:rPr lang="en-US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34" charset="0"/>
                <a:ea typeface="Montserrat" pitchFamily="34" charset="-122"/>
                <a:cs typeface="Montserrat" pitchFamily="34" charset="-120"/>
              </a:rPr>
              <a:t>| Integrantes: </a:t>
            </a:r>
            <a:r>
              <a:rPr lang="en-US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34" charset="0"/>
              </a:rPr>
              <a:t>Juan Ignacio Pintos, Luis Mella, Paula Ramirez.</a:t>
            </a:r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40B5D6B-B051-AEE4-26C2-3A645C6C42C7}"/>
              </a:ext>
            </a:extLst>
          </p:cNvPr>
          <p:cNvSpPr/>
          <p:nvPr/>
        </p:nvSpPr>
        <p:spPr>
          <a:xfrm>
            <a:off x="758309" y="6550153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Noviembre, 2025</a:t>
            </a:r>
            <a:r>
              <a:rPr lang="en-US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34" charset="0"/>
              </a:rPr>
              <a:t>.</a:t>
            </a:r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44767"/>
            <a:ext cx="30946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589C9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El Problema y El Objetivo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58309" y="238756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Motivación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58309" y="3425190"/>
            <a:ext cx="13113782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precios de commodities </a:t>
            </a:r>
            <a:r>
              <a:rPr lang="en-US" sz="2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constituyen</a:t>
            </a: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información</a:t>
            </a: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crítica</a:t>
            </a: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las </a:t>
            </a:r>
            <a:r>
              <a:rPr lang="en-US" sz="2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economías</a:t>
            </a: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latinoamericanas</a:t>
            </a: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y </a:t>
            </a:r>
            <a:r>
              <a:rPr lang="en-US" sz="21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particular para la economía argentina.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8309" y="4752261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063E5F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Problema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8309" y="539638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</a:t>
            </a:r>
            <a:r>
              <a:rPr lang="en-US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repectivos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están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dispersos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y/o </a:t>
            </a:r>
            <a:r>
              <a:rPr lang="en-US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formatos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inconsistentes</a:t>
            </a: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Se necesita una fuente de datos centralizada, limpia y lista para análisis.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87139" y="4752261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75BA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Objetivo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87139" y="539638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Construir una base de datos consolidada, limpia y escalable, lista para modelado predictivo.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22" y="586502"/>
            <a:ext cx="7880271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Descripción de la </a:t>
            </a:r>
            <a:r>
              <a:rPr lang="en-US" sz="4400" b="1" dirty="0">
                <a:solidFill>
                  <a:srgbClr val="75BA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Base de Datos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6270" y="1732478"/>
            <a:ext cx="6461998" cy="2072283"/>
          </a:xfrm>
          <a:prstGeom prst="roundRect">
            <a:avLst>
              <a:gd name="adj" fmla="val 1544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957131" y="1953339"/>
            <a:ext cx="2806541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Fuente Principal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57131" y="2431970"/>
            <a:ext cx="6020276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Yahoo Finance (yfinance)</a:t>
            </a:r>
            <a:endParaRPr lang="en-US" sz="1650" spc="300" dirty="0"/>
          </a:p>
        </p:txBody>
      </p:sp>
      <p:sp>
        <p:nvSpPr>
          <p:cNvPr id="6" name="Text 4"/>
          <p:cNvSpPr/>
          <p:nvPr/>
        </p:nvSpPr>
        <p:spPr>
          <a:xfrm>
            <a:off x="957131" y="2901196"/>
            <a:ext cx="602027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qué? Es gratuita, confiable, tiene cobertura histórica completa y se actualiza a diario.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11509" y="1732478"/>
            <a:ext cx="6462117" cy="2072283"/>
          </a:xfrm>
          <a:prstGeom prst="roundRect">
            <a:avLst>
              <a:gd name="adj" fmla="val 1544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632370" y="1953339"/>
            <a:ext cx="2806541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Nivel de Datos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32370" y="2431970"/>
            <a:ext cx="6020395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Diario (días de trading)</a:t>
            </a:r>
            <a:endParaRPr lang="en-US" sz="1650" spc="300" dirty="0"/>
          </a:p>
        </p:txBody>
      </p:sp>
      <p:sp>
        <p:nvSpPr>
          <p:cNvPr id="10" name="Text 8"/>
          <p:cNvSpPr/>
          <p:nvPr/>
        </p:nvSpPr>
        <p:spPr>
          <a:xfrm>
            <a:off x="7632370" y="2901196"/>
            <a:ext cx="6020395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Temporal: 25 años (Enero 2000 - Octubre 2025)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6522" y="4077511"/>
            <a:ext cx="3367921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Alcance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36270" y="4498516"/>
            <a:ext cx="2806541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589C9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22 Commodities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270" y="4812144"/>
            <a:ext cx="6308527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Granos (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</a:rPr>
              <a:t>CBOT-Chicago Board of Trade): 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Soja, Maíz, Trigo, Avena. </a:t>
            </a:r>
          </a:p>
          <a:p>
            <a:pPr>
              <a:lnSpc>
                <a:spcPts val="2650"/>
              </a:lnSpc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Energía (NYMEX/ICE): WTI, Brent, Gas Natural, Gasoil, Nafta.</a:t>
            </a:r>
          </a:p>
          <a:p>
            <a:pPr>
              <a:lnSpc>
                <a:spcPts val="2650"/>
              </a:lnSpc>
            </a:pP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Metales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preciosos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(COMEX), Oro, Plata,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Platino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Paladio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>
              <a:lnSpc>
                <a:spcPts val="2650"/>
              </a:lnSpc>
            </a:pP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Metales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industriales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Cobre.</a:t>
            </a:r>
          </a:p>
          <a:p>
            <a:pPr>
              <a:lnSpc>
                <a:spcPts val="2650"/>
              </a:lnSpc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Softs (ICE): café,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azúcar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algodón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cacao.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Ganado (CME): vivo, para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engorde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cerdos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magros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Madera.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2972" y="4498516"/>
            <a:ext cx="2806541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589C9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5 Predictores Macro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65099" y="4883339"/>
            <a:ext cx="630852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VIX (Volatilidad),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DXY (Índice Dólar),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S&amp;P 500,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Tasas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10Y,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 err="1">
                <a:solidFill>
                  <a:srgbClr val="384653"/>
                </a:solidFill>
                <a:latin typeface="Montserrat" pitchFamily="34" charset="0"/>
              </a:rPr>
              <a:t>Índices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US" sz="1650" dirty="0" err="1">
                <a:solidFill>
                  <a:srgbClr val="384653"/>
                </a:solidFill>
                <a:latin typeface="Montserrat" pitchFamily="34" charset="0"/>
              </a:rPr>
              <a:t>sectoriales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</a:rPr>
              <a:t>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4143" y="7267681"/>
            <a:ext cx="13137356" cy="906304"/>
          </a:xfrm>
          <a:prstGeom prst="roundRect">
            <a:avLst>
              <a:gd name="adj" fmla="val 35303"/>
            </a:avLst>
          </a:prstGeom>
          <a:solidFill>
            <a:srgbClr val="BEDFF3"/>
          </a:solidFill>
          <a:ln/>
        </p:spPr>
        <p:txBody>
          <a:bodyPr/>
          <a:lstStyle/>
          <a:p>
            <a:endParaRPr lang="es-AR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60" y="7469682"/>
            <a:ext cx="313974" cy="25115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16843" y="7472422"/>
            <a:ext cx="1223105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00" b="1" spc="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Final:</a:t>
            </a:r>
            <a:r>
              <a:rPr lang="en-US" sz="1600" spc="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solo archivo con 6,537 filas (días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hábiles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y 250 columnas (features: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lags + rolling stats </a:t>
            </a:r>
          </a:p>
          <a:p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retornos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Tamaño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 del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Archivo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: 25 MB 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formato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 CSV.</a:t>
            </a:r>
          </a:p>
          <a:p>
            <a:pPr marL="0" indent="0" algn="l">
              <a:lnSpc>
                <a:spcPts val="26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574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El </a:t>
            </a:r>
            <a:r>
              <a:rPr lang="en-US" sz="4450" b="1" dirty="0">
                <a:solidFill>
                  <a:srgbClr val="75BA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Pipeline de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975009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Cómo lo hicimos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58309" y="2727484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Presentamos un pipeline automatizado que regenera la base completa en menos de 5 minutos.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404592"/>
            <a:ext cx="4371261" cy="8665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4884" y="44877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Descarga (Download)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74884" y="4973836"/>
            <a:ext cx="393811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bajan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los 27 activos (22 commodities + 5 predictores) desde Yahoo Finance.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74884" y="6143863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guardan como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archivos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CSV individuales.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570" y="3404592"/>
            <a:ext cx="4371261" cy="8665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6144" y="4487704"/>
            <a:ext cx="319873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Procesamiento (Process)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46144" y="4973836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consolidan todos los CSV en una única base de datos.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346144" y="5797153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pivota la tabla a "formato ancho" (cada activo es una columna).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830" y="3404592"/>
            <a:ext cx="4371261" cy="8665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17405" y="4487704"/>
            <a:ext cx="393811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Limpieza y Features (Clean &amp; Engineer)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717405" y="5330071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aplica la limpieza y se calculan las 200+ variables nuevas.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199940" y="-3199426"/>
            <a:ext cx="8229600" cy="1462948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773" y="0"/>
            <a:ext cx="10885015" cy="8229086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79389" y="-2023008"/>
            <a:ext cx="5873477" cy="1463225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48227-DC3C-BB2B-7403-1E6BBC4B3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15" y="279148"/>
            <a:ext cx="11404969" cy="77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0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2682F7-732A-6AD8-0A92-92C3C1BE3754}"/>
              </a:ext>
            </a:extLst>
          </p:cNvPr>
          <p:cNvSpPr/>
          <p:nvPr/>
        </p:nvSpPr>
        <p:spPr>
          <a:xfrm>
            <a:off x="5228657" y="6740963"/>
            <a:ext cx="8643434" cy="1431161"/>
          </a:xfrm>
          <a:prstGeom prst="round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25000">
                <a:schemeClr val="tx2">
                  <a:lumMod val="50000"/>
                  <a:lumOff val="50000"/>
                </a:schemeClr>
              </a:gs>
              <a:gs pos="98000">
                <a:schemeClr val="accent1">
                  <a:lumMod val="60000"/>
                  <a:lumOff val="40000"/>
                  <a:alpha val="45000"/>
                </a:schemeClr>
              </a:gs>
            </a:gsLst>
            <a:lin ang="16200000" scaled="1"/>
          </a:gradFill>
          <a:ln>
            <a:solidFill>
              <a:srgbClr val="B5E4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A23EF279-2B9F-1175-10E9-2E63A32D530A}"/>
              </a:ext>
            </a:extLst>
          </p:cNvPr>
          <p:cNvSpPr/>
          <p:nvPr/>
        </p:nvSpPr>
        <p:spPr>
          <a:xfrm>
            <a:off x="9706214" y="2190511"/>
            <a:ext cx="4165877" cy="4226815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D7461A31-940B-5457-FC93-4817A8B567F8}"/>
              </a:ext>
            </a:extLst>
          </p:cNvPr>
          <p:cNvSpPr/>
          <p:nvPr/>
        </p:nvSpPr>
        <p:spPr>
          <a:xfrm>
            <a:off x="5256132" y="2165745"/>
            <a:ext cx="4165877" cy="4251581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" name="Text 0"/>
          <p:cNvSpPr/>
          <p:nvPr/>
        </p:nvSpPr>
        <p:spPr>
          <a:xfrm>
            <a:off x="758309" y="800695"/>
            <a:ext cx="909208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Proceso de </a:t>
            </a:r>
            <a:r>
              <a:rPr lang="en-US" sz="4450" b="1" dirty="0">
                <a:solidFill>
                  <a:srgbClr val="75BA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Limpieza</a:t>
            </a: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 y Confiabilidad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513403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asegurar la "confiabilidad", aplicamos un proceso de limpieza robusto: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58309" y="2190511"/>
            <a:ext cx="4165877" cy="4525686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19" y="2190511"/>
            <a:ext cx="114830" cy="4525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6804" y="2437566"/>
            <a:ext cx="3641288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Valores </a:t>
            </a:r>
            <a:r>
              <a:rPr lang="en-US" sz="2400" b="1" dirty="0" err="1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Faltantes</a:t>
            </a:r>
            <a:r>
              <a:rPr lang="en-US" sz="24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* (Missing Values)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90254" y="3360027"/>
            <a:ext cx="36412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</a:t>
            </a: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Feriados, fines de semana, o gaps en la fuente (ej. Brent empieza en 2006).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6804" y="4331005"/>
            <a:ext cx="36412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 (Precios):</a:t>
            </a:r>
            <a:r>
              <a:rPr lang="en-US" sz="1600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Relleno con forward-fill (arrastrar último valor) y backward-fill.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2779" y="5699962"/>
            <a:ext cx="364128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 (Volumen):</a:t>
            </a:r>
            <a:r>
              <a:rPr lang="en-US" sz="1600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Rellenar con 0 (asume no hubo trading).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42" y="2190511"/>
            <a:ext cx="107247" cy="42268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0216" y="2437566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Validación de Datos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5540216" y="2995017"/>
            <a:ext cx="36412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chequea que High &gt;= Low y que Close esté en ese rango.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40216" y="3764160"/>
            <a:ext cx="36412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marcan precios inválidos (≤ 0) como NaN.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654" y="2190511"/>
            <a:ext cx="107875" cy="42515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83629" y="2437566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Duplicados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9983629" y="2995017"/>
            <a:ext cx="36414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eliminan filas duplicadas por fecha.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F3F586-41A6-A5E4-4A6E-B89AE51D3FC2}"/>
              </a:ext>
            </a:extLst>
          </p:cNvPr>
          <p:cNvSpPr txBox="1"/>
          <p:nvPr/>
        </p:nvSpPr>
        <p:spPr>
          <a:xfrm>
            <a:off x="5540216" y="6744727"/>
            <a:ext cx="6101449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</a:rPr>
              <a:t>* </a:t>
            </a:r>
            <a:r>
              <a:rPr lang="en-US" b="1" i="0" dirty="0" err="1">
                <a:solidFill>
                  <a:schemeClr val="bg2">
                    <a:lumMod val="25000"/>
                  </a:schemeClr>
                </a:solidFill>
                <a:effectLst/>
              </a:rPr>
              <a:t>Estadística</a:t>
            </a: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</a:rPr>
              <a:t> Final de Missing Values: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2"/>
                </a:solidFill>
                <a:effectLst/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Brent_Crude</a:t>
            </a:r>
            <a:r>
              <a:rPr lang="en-US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30.55% (</a:t>
            </a:r>
            <a:r>
              <a:rPr lang="en-US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inicio</a:t>
            </a:r>
            <a:r>
              <a:rPr lang="en-US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trading </a:t>
            </a:r>
            <a:r>
              <a:rPr lang="en-US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US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2006)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Granos </a:t>
            </a:r>
            <a:r>
              <a:rPr lang="en-US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principales</a:t>
            </a:r>
            <a:r>
              <a:rPr lang="en-US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&lt; 3.5%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Predictores</a:t>
            </a:r>
            <a:r>
              <a:rPr lang="en-US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&lt; 1%</a:t>
            </a: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6A7E80C4-42A3-E722-5FFD-7ADBA9BA06E3}"/>
              </a:ext>
            </a:extLst>
          </p:cNvPr>
          <p:cNvSpPr/>
          <p:nvPr/>
        </p:nvSpPr>
        <p:spPr>
          <a:xfrm rot="10800000" flipH="1">
            <a:off x="2673315" y="6886481"/>
            <a:ext cx="2064777" cy="936435"/>
          </a:xfrm>
          <a:prstGeom prst="ben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103" y="507683"/>
            <a:ext cx="4753332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Creación de </a:t>
            </a:r>
            <a:r>
              <a:rPr lang="en-US" sz="3700" b="1" dirty="0">
                <a:solidFill>
                  <a:srgbClr val="75BA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Variables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2103" y="1173956"/>
            <a:ext cx="2851904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2103" y="1801177"/>
            <a:ext cx="13366194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solo usamos el precio de cierre; creamos </a:t>
            </a:r>
            <a:r>
              <a:rPr lang="en-US" sz="1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216 </a:t>
            </a:r>
            <a:r>
              <a:rPr lang="en-US" sz="175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 nuevas</a:t>
            </a:r>
            <a:r>
              <a:rPr lang="en-US" sz="1750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capturar el contexto del mercado: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32103" y="2365415"/>
            <a:ext cx="6592729" cy="2587943"/>
          </a:xfrm>
          <a:prstGeom prst="roundRect">
            <a:avLst>
              <a:gd name="adj" fmla="val 104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41" y="2553652"/>
            <a:ext cx="541853" cy="54185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88" y="2702600"/>
            <a:ext cx="243840" cy="243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341" y="3276124"/>
            <a:ext cx="2376607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Variables Temporales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20341" y="3681532"/>
            <a:ext cx="6216253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features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0341" y="4078843"/>
            <a:ext cx="6216253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Capturan estacionalidad (mes, trimestre, día de la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del </a:t>
            </a:r>
            <a:r>
              <a:rPr lang="en-US" sz="1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año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405449" y="2365415"/>
            <a:ext cx="6592848" cy="2587943"/>
          </a:xfrm>
          <a:prstGeom prst="roundRect">
            <a:avLst>
              <a:gd name="adj" fmla="val 104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687" y="2553652"/>
            <a:ext cx="541853" cy="541853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2634" y="2702600"/>
            <a:ext cx="243840" cy="2438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93687" y="3276124"/>
            <a:ext cx="2376607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Lags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593687" y="3681532"/>
            <a:ext cx="6216372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 features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593687" y="4078843"/>
            <a:ext cx="6216372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 de ayer (lag_1) y de la semana pasada (lag_7).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593687" y="4476155"/>
            <a:ext cx="6216372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Capturan inercia y momentum.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32103" y="5133975"/>
            <a:ext cx="6592729" cy="2587943"/>
          </a:xfrm>
          <a:prstGeom prst="roundRect">
            <a:avLst>
              <a:gd name="adj" fmla="val 104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341" y="5322213"/>
            <a:ext cx="541853" cy="541853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88" y="5471160"/>
            <a:ext cx="243840" cy="2438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0341" y="6044684"/>
            <a:ext cx="2376607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Rolling Statistics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820341" y="6450092"/>
            <a:ext cx="6216253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 features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820341" y="6847403"/>
            <a:ext cx="6216253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Medias móviles (SMA 7 y 30 días) para identificar tendencias.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820341" y="7244715"/>
            <a:ext cx="6216253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Desviación estándar (Std 7 y 30 días) para medir la volatilidad.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7405449" y="5133975"/>
            <a:ext cx="6592848" cy="2587943"/>
          </a:xfrm>
          <a:prstGeom prst="roundRect">
            <a:avLst>
              <a:gd name="adj" fmla="val 104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3687" y="5322213"/>
            <a:ext cx="541853" cy="541853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42634" y="5471160"/>
            <a:ext cx="243840" cy="2438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593687" y="6044684"/>
            <a:ext cx="2376607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Retornos</a:t>
            </a:r>
            <a:endParaRPr lang="en-US" sz="1850" dirty="0"/>
          </a:p>
        </p:txBody>
      </p:sp>
      <p:sp>
        <p:nvSpPr>
          <p:cNvPr id="29" name="Text 19"/>
          <p:cNvSpPr/>
          <p:nvPr/>
        </p:nvSpPr>
        <p:spPr>
          <a:xfrm>
            <a:off x="7593687" y="6450092"/>
            <a:ext cx="6216372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 features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7593687" y="6847403"/>
            <a:ext cx="6216372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Cambio porcentual diario (return_1) y semanal (return_7).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7593687" y="7244715"/>
            <a:ext cx="6216372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Esencial para modelado (vuelve la serie estacionaria).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89920" y="0"/>
            <a:ext cx="38404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99331"/>
            <a:ext cx="853011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Hallazgos </a:t>
            </a:r>
            <a:r>
              <a:rPr lang="en-US" sz="4450" b="1" dirty="0">
                <a:solidFill>
                  <a:srgbClr val="75BA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Destacados</a:t>
            </a: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 del </a:t>
            </a:r>
            <a:r>
              <a:rPr lang="en-US" sz="4450" b="1" dirty="0" err="1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Análisis</a:t>
            </a: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 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Exploratorio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1831205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base de datos revela patrones históricos claros: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225946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589C9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Correlaciones Fuertes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4560332" y="2685152"/>
            <a:ext cx="622958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Brent vs WTI (Petróleo): 0.97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 (Casi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idénticos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Ganado Feeder vs Live Cattle: 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0.98 → Cadena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productiva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conectada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Heating Oil vs RBOB Gasoline: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 0.96 →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Derivados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del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petróleo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 algn="l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2">
                  <a:lumMod val="25000"/>
                </a:schemeClr>
              </a:solidFill>
              <a:ea typeface="Montserrat" pitchFamily="34" charset="-122"/>
              <a:cs typeface="Montserrat" pitchFamily="34" charset="-120"/>
            </a:endParaRPr>
          </a:p>
          <a:p>
            <a:pPr marL="285750" indent="-285750" algn="l">
              <a:lnSpc>
                <a:spcPts val="2700"/>
              </a:lnSpc>
              <a:buSzPct val="100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560332" y="3849560"/>
            <a:ext cx="6371371" cy="7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Maíz vs Soja: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0.92 (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ompetencia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 por tierra).</a:t>
            </a: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Oro vs Plata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: 0.88 →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Metales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preciosos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con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alta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correlación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histórica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</a:rPr>
              <a:t>Maíz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 vs Trigo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: 0.88 → Granos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substitutos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parciales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60332" y="5036886"/>
            <a:ext cx="6371371" cy="560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Oro vs S&amp;P 500: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0.85 (Ambos suben en expansión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económica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ea typeface="Montserrat" pitchFamily="34" charset="-122"/>
                <a:cs typeface="Montserrat" pitchFamily="34" charset="-120"/>
              </a:rPr>
              <a:t>).</a:t>
            </a: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" sz="1600" b="1" dirty="0" err="1">
                <a:solidFill>
                  <a:schemeClr val="bg2">
                    <a:lumMod val="25000"/>
                  </a:schemeClr>
                </a:solidFill>
              </a:rPr>
              <a:t>Platinum</a:t>
            </a:r>
            <a:r>
              <a:rPr lang="es-ES" sz="1600" b="1" dirty="0">
                <a:solidFill>
                  <a:schemeClr val="bg2">
                    <a:lumMod val="25000"/>
                  </a:schemeClr>
                </a:solidFill>
              </a:rPr>
              <a:t> vs DXY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</a:rPr>
              <a:t>: -0.81 → Correlación NEGATIVA fuerte.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58309" y="6266035"/>
            <a:ext cx="424767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000" b="1" dirty="0">
                <a:solidFill>
                  <a:srgbClr val="063E5F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Impacto de Eventos Críticos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58309" y="6727454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4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Crisis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2008: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Caída del petróleo ($147 a $30), subida del Oro (refugio).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309" y="7149888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COVID-19 (2020):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Petróleo WTI con precio negativo (-$37) y VIX en picos históricos.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309" y="7572321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4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Guerra Ucrania 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(2022):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Fuerte suba del Trigo (+50% en 2 semanas).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2D82DC-49BB-DF14-0510-DAC758AE04F0}"/>
              </a:ext>
            </a:extLst>
          </p:cNvPr>
          <p:cNvSpPr txBox="1"/>
          <p:nvPr/>
        </p:nvSpPr>
        <p:spPr>
          <a:xfrm>
            <a:off x="758309" y="2749096"/>
            <a:ext cx="3802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</a:rPr>
              <a:t>Intra-Commodity (</a:t>
            </a:r>
            <a:r>
              <a:rPr lang="en-US" b="1" i="0" dirty="0" err="1">
                <a:solidFill>
                  <a:srgbClr val="1F2328"/>
                </a:solidFill>
                <a:effectLst/>
              </a:rPr>
              <a:t>Misma</a:t>
            </a:r>
            <a:r>
              <a:rPr lang="en-US" b="1" i="0" dirty="0">
                <a:solidFill>
                  <a:srgbClr val="1F2328"/>
                </a:solidFill>
                <a:effectLst/>
              </a:rPr>
              <a:t> Familia)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F5BCB9-D50B-1445-C7EB-3372DA144AA0}"/>
              </a:ext>
            </a:extLst>
          </p:cNvPr>
          <p:cNvSpPr txBox="1"/>
          <p:nvPr/>
        </p:nvSpPr>
        <p:spPr>
          <a:xfrm>
            <a:off x="750996" y="3849560"/>
            <a:ext cx="3802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</a:rPr>
              <a:t>Inter-Commodity (Cross-Asset)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E1FF8-A2DC-E6DD-CD76-59052C270A13}"/>
              </a:ext>
            </a:extLst>
          </p:cNvPr>
          <p:cNvSpPr txBox="1"/>
          <p:nvPr/>
        </p:nvSpPr>
        <p:spPr>
          <a:xfrm>
            <a:off x="758309" y="5023384"/>
            <a:ext cx="3802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</a:rPr>
              <a:t>Commodity-Macro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2F0748-D348-ED15-3D53-6397F7FA9CE4}"/>
              </a:ext>
            </a:extLst>
          </p:cNvPr>
          <p:cNvSpPr txBox="1"/>
          <p:nvPr/>
        </p:nvSpPr>
        <p:spPr>
          <a:xfrm>
            <a:off x="616526" y="5826112"/>
            <a:ext cx="10173394" cy="36933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i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Implicancia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para </a:t>
            </a:r>
            <a:r>
              <a:rPr lang="en-US" i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Modelado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: </a:t>
            </a:r>
            <a:r>
              <a:rPr lang="en-US" i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Multicolinealidad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</a:t>
            </a:r>
            <a:r>
              <a:rPr lang="en-US" i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alta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→ Usar PCA o </a:t>
            </a:r>
            <a:r>
              <a:rPr lang="en-US" i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selección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de features.</a:t>
            </a:r>
            <a:endParaRPr lang="es-AR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4469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Próximos </a:t>
            </a:r>
            <a:r>
              <a:rPr lang="en-US" sz="4450" b="1" dirty="0">
                <a:solidFill>
                  <a:srgbClr val="75BAE6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Pasos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43958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Ideas a Desarrollar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58309" y="2896433"/>
            <a:ext cx="1311378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 base es la Fase 1. La Fase 2 es el Modelado Predictivo: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8309" y="3573542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anose="00000500000000000000" pitchFamily="2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911084"/>
            <a:ext cx="4226838" cy="3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309" y="40802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Selección de Variables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8309" y="4566404"/>
            <a:ext cx="422683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Tenemos 250 features.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Usaremos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PCA o Recursive Feature Elimination (RFE) para reducirlas y evitar multicolinealidad.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01722" y="3573542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anose="00000500000000000000" pitchFamily="2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722" y="3911084"/>
            <a:ext cx="4226838" cy="30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01722" y="40802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Modelos a Probar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01722" y="4566404"/>
            <a:ext cx="42268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ARIMA, Regresión Lineal.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201722" y="4988838"/>
            <a:ext cx="42268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Learning:</a:t>
            </a:r>
            <a:r>
              <a:rPr lang="en-US" sz="1700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y XGBoost.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201722" y="5757982"/>
            <a:ext cx="42268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Learning:</a:t>
            </a:r>
            <a:r>
              <a:rPr lang="en-US" sz="1700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 (especial para series temporales).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9645134" y="3573542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anose="00000500000000000000" pitchFamily="2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134" y="3911084"/>
            <a:ext cx="4226957" cy="30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45134" y="408027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Evaluación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645134" y="4566404"/>
            <a:ext cx="422695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Backtesting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Simular una estrategia de trading con las predicciones pasadas.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645134" y="5682258"/>
            <a:ext cx="422695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spc="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RMSE (para precio) y Accuracy (para dirección: sube/baja).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51917"/>
            <a:ext cx="650343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Conclusiones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306122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589C9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Lo que construimos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58309" y="2950250"/>
            <a:ext cx="13121402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es solo un CSV, es un proyecto de software con un pipeline automatizado, escalable y reproducible.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87139" y="228445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770239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Valor Agregado</a:t>
            </a:r>
            <a:endParaRPr lang="en-US" sz="2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09" y="5522714"/>
            <a:ext cx="541615" cy="5416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0673" y="565130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Automatizado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70673" y="6137434"/>
            <a:ext cx="33783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regenera en &lt; 5 minutos.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9819" y="5522714"/>
            <a:ext cx="541615" cy="5416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2183" y="565130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Escalable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032183" y="6137434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Agregar un nuevo commodity solo requiere editar 1 línea en un config.py.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1329" y="5522714"/>
            <a:ext cx="541615" cy="5416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93693" y="5651302"/>
            <a:ext cx="297156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Aptos" panose="020B0004020202020204" pitchFamily="34" charset="0"/>
                <a:ea typeface="Barlow Bold" pitchFamily="34" charset="-122"/>
                <a:cs typeface="Barlow Bold" pitchFamily="34" charset="-120"/>
              </a:rPr>
              <a:t>Fuente de Verdad Única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0493693" y="6137434"/>
            <a:ext cx="337839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el equipo trabaja sobre los mismos datos validados.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</TotalTime>
  <Words>1046</Words>
  <Application>Microsoft Office PowerPoint</Application>
  <PresentationFormat>Custom</PresentationFormat>
  <Paragraphs>135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Aptos Display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Paula Ramirez</cp:lastModifiedBy>
  <cp:revision>19</cp:revision>
  <dcterms:created xsi:type="dcterms:W3CDTF">2025-11-03T18:08:17Z</dcterms:created>
  <dcterms:modified xsi:type="dcterms:W3CDTF">2025-11-05T01:45:57Z</dcterms:modified>
</cp:coreProperties>
</file>