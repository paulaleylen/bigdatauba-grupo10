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4163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4630400" cy="8229600"/>
  <p:notesSz cx="8229600" cy="14630400"/>
  <p:embeddedFontLst>
    <p:embeddedFont>
      <p:font typeface="Montserrat" panose="00000500000000000000" pitchFamily="2" charset="0"/>
      <p:regular r:id="rId13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E4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3" d="100"/>
          <a:sy n="53" d="100"/>
        </p:scale>
        <p:origin x="436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656808B-C825-7DDC-463D-056C705ADA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4C8A25-50AD-674A-D512-17E1204CDD7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A79D8-C316-44EF-92F6-2AC9295D57BF}" type="datetimeFigureOut">
              <a:rPr lang="es-AR" smtClean="0"/>
              <a:t>3/11/2025</a:t>
            </a:fld>
            <a:endParaRPr lang="es-A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4812C2-827E-2B58-55EB-90E5445868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F11561-1DAA-683B-85AB-C07983C83F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489F38-F18D-48E6-B6A3-B425E59D0EE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477100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9785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311683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86199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76353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62005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01805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7318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090725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382310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8205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95656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5633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39266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32263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82156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3804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04175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15845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67400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81560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510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93C59-8DEE-4A37-9DB1-4EB5B7561917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49881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4" r:id="rId1"/>
    <p:sldLayoutId id="2147484165" r:id="rId2"/>
    <p:sldLayoutId id="2147484166" r:id="rId3"/>
    <p:sldLayoutId id="2147484167" r:id="rId4"/>
    <p:sldLayoutId id="2147484168" r:id="rId5"/>
    <p:sldLayoutId id="2147484169" r:id="rId6"/>
    <p:sldLayoutId id="2147484170" r:id="rId7"/>
    <p:sldLayoutId id="2147484171" r:id="rId8"/>
    <p:sldLayoutId id="2147484172" r:id="rId9"/>
    <p:sldLayoutId id="2147484173" r:id="rId10"/>
    <p:sldLayoutId id="2147484174" r:id="rId11"/>
    <p:sldLayoutId id="2147484175" r:id="rId12"/>
    <p:sldLayoutId id="2147484176" r:id="rId13"/>
    <p:sldLayoutId id="2147484177" r:id="rId14"/>
    <p:sldLayoutId id="2147484178" r:id="rId15"/>
    <p:sldLayoutId id="2147484179" r:id="rId16"/>
    <p:sldLayoutId id="2147484180" r:id="rId17"/>
    <p:sldLayoutId id="2147484181" r:id="rId18"/>
    <p:sldLayoutId id="2147484182" r:id="rId19"/>
    <p:sldLayoutId id="2147484183" r:id="rId20"/>
  </p:sldLayoutIdLst>
  <p:hf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chemeClr val="accent1">
              <a:alpha val="85000"/>
            </a:schemeClr>
          </a:solidFill>
          <a:ln/>
        </p:spPr>
        <p:txBody>
          <a:bodyPr/>
          <a:lstStyle/>
          <a:p>
            <a:endParaRPr lang="es-AR" dirty="0">
              <a:solidFill>
                <a:schemeClr val="bg1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758309" y="1792643"/>
            <a:ext cx="13113782" cy="142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Base de Datos de Precios de Commodities para Análisis Predictivo</a:t>
            </a:r>
            <a:endParaRPr lang="en-US" sz="44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Text 2"/>
          <p:cNvSpPr/>
          <p:nvPr/>
        </p:nvSpPr>
        <p:spPr>
          <a:xfrm>
            <a:off x="758309" y="3474855"/>
            <a:ext cx="13113782" cy="1140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chemeClr val="bg2">
                    <a:lumMod val="9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Un pipeline automatizado de descarga, procesamiento y feature engineering</a:t>
            </a:r>
            <a:endParaRPr lang="en-US" sz="3550" dirty="0">
              <a:solidFill>
                <a:schemeClr val="bg2">
                  <a:lumMod val="9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Text 3"/>
          <p:cNvSpPr/>
          <p:nvPr/>
        </p:nvSpPr>
        <p:spPr>
          <a:xfrm>
            <a:off x="758309" y="5386626"/>
            <a:ext cx="1311378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400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Materia: Taller de Programación | UBA - FCE</a:t>
            </a:r>
            <a:endParaRPr lang="en-US" sz="2400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A8A571C-FAD7-7606-765D-9C5ACED0A2BD}"/>
              </a:ext>
            </a:extLst>
          </p:cNvPr>
          <p:cNvSpPr/>
          <p:nvPr/>
        </p:nvSpPr>
        <p:spPr>
          <a:xfrm>
            <a:off x="758309" y="5925783"/>
            <a:ext cx="1311378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Grupo 10</a:t>
            </a:r>
            <a:r>
              <a:rPr lang="en-US" sz="21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34" charset="0"/>
                <a:ea typeface="Montserrat" pitchFamily="34" charset="-122"/>
                <a:cs typeface="Montserrat" pitchFamily="34" charset="-120"/>
              </a:rPr>
              <a:t>| Integrantes: </a:t>
            </a:r>
            <a:r>
              <a:rPr lang="en-US" sz="21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34" charset="0"/>
              </a:rPr>
              <a:t>Juan Ignacio Pintos, Luis Mella, Paula Ramirez.</a:t>
            </a:r>
            <a:endParaRPr lang="en-US" sz="21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0B5D6B-B051-AEE4-26C2-3A645C6C42C7}"/>
              </a:ext>
            </a:extLst>
          </p:cNvPr>
          <p:cNvSpPr/>
          <p:nvPr/>
        </p:nvSpPr>
        <p:spPr>
          <a:xfrm>
            <a:off x="758309" y="6550153"/>
            <a:ext cx="1311378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Noviembre, 2025</a:t>
            </a:r>
            <a:r>
              <a:rPr lang="en-US" sz="21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34" charset="0"/>
              </a:rPr>
              <a:t>.</a:t>
            </a:r>
            <a:endParaRPr lang="en-US" sz="21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944767"/>
            <a:ext cx="309467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2589C9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El Problema y El Objetivo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58309" y="2387560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Motivación</a:t>
            </a:r>
            <a:endParaRPr lang="en-US" sz="4450" dirty="0"/>
          </a:p>
        </p:txBody>
      </p:sp>
      <p:sp>
        <p:nvSpPr>
          <p:cNvPr id="4" name="Text 2"/>
          <p:cNvSpPr/>
          <p:nvPr/>
        </p:nvSpPr>
        <p:spPr>
          <a:xfrm>
            <a:off x="758309" y="3425190"/>
            <a:ext cx="13113782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Los precios de commodities </a:t>
            </a:r>
            <a:r>
              <a:rPr lang="en-US" sz="21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constituyen</a:t>
            </a: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21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información</a:t>
            </a: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21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crítica</a:t>
            </a: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para las </a:t>
            </a:r>
            <a:r>
              <a:rPr lang="en-US" sz="21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economías</a:t>
            </a: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21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latinoamericanas</a:t>
            </a: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y </a:t>
            </a:r>
            <a:r>
              <a:rPr lang="en-US" sz="21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</a:t>
            </a: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particular para la economía argentina.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58309" y="4752261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650" b="1" dirty="0">
                <a:solidFill>
                  <a:srgbClr val="063E5F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Problema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758309" y="5396389"/>
            <a:ext cx="62925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Los </a:t>
            </a:r>
            <a:r>
              <a:rPr lang="en-US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datos</a:t>
            </a:r>
            <a:r>
              <a:rPr lang="en-US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repectivos</a:t>
            </a:r>
            <a:r>
              <a:rPr lang="en-US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están</a:t>
            </a:r>
            <a:r>
              <a:rPr lang="en-US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dispersos</a:t>
            </a:r>
            <a:r>
              <a:rPr lang="en-US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y/o </a:t>
            </a:r>
            <a:r>
              <a:rPr lang="en-US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</a:t>
            </a:r>
            <a:r>
              <a:rPr lang="en-US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formatos</a:t>
            </a:r>
            <a:r>
              <a:rPr lang="en-US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inconsistentes</a:t>
            </a:r>
            <a:r>
              <a:rPr lang="en-US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Se necesita una fuente de datos centralizada, limpia y lista para análisis.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587139" y="4752261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650" b="1" dirty="0">
                <a:solidFill>
                  <a:srgbClr val="75BAE6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Objetivo</a:t>
            </a:r>
            <a:endParaRPr lang="en-US" sz="2650" dirty="0"/>
          </a:p>
        </p:txBody>
      </p:sp>
      <p:sp>
        <p:nvSpPr>
          <p:cNvPr id="8" name="Text 6"/>
          <p:cNvSpPr/>
          <p:nvPr/>
        </p:nvSpPr>
        <p:spPr>
          <a:xfrm>
            <a:off x="7587139" y="5396389"/>
            <a:ext cx="6292572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Construir una base de datos consolidada, limpia y escalable, lista para modelado predictivo.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6522" y="586502"/>
            <a:ext cx="7880271" cy="701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Descripción de la </a:t>
            </a:r>
            <a:r>
              <a:rPr lang="en-US" sz="4400" b="1" dirty="0">
                <a:solidFill>
                  <a:srgbClr val="75BAE6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Base de Datos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736270" y="1732478"/>
            <a:ext cx="6461998" cy="2072283"/>
          </a:xfrm>
          <a:prstGeom prst="roundRect">
            <a:avLst>
              <a:gd name="adj" fmla="val 15440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957131" y="1953339"/>
            <a:ext cx="2806541" cy="350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Fuente Principal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57131" y="2431970"/>
            <a:ext cx="6020276" cy="341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Yahoo Finance (yfinance)</a:t>
            </a:r>
            <a:endParaRPr lang="en-US" sz="1650" spc="300" dirty="0"/>
          </a:p>
        </p:txBody>
      </p:sp>
      <p:sp>
        <p:nvSpPr>
          <p:cNvPr id="6" name="Text 4"/>
          <p:cNvSpPr/>
          <p:nvPr/>
        </p:nvSpPr>
        <p:spPr>
          <a:xfrm>
            <a:off x="957131" y="2901196"/>
            <a:ext cx="6020276" cy="68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¿Por qué? Es gratuita, confiable, tiene cobertura histórica completa y se actualiza a diario.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411509" y="1732478"/>
            <a:ext cx="6462117" cy="2072283"/>
          </a:xfrm>
          <a:prstGeom prst="roundRect">
            <a:avLst>
              <a:gd name="adj" fmla="val 15440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7632370" y="1953339"/>
            <a:ext cx="2806541" cy="350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Nivel de Datos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632370" y="2431970"/>
            <a:ext cx="6020395" cy="341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Diario (días de trading)</a:t>
            </a:r>
            <a:endParaRPr lang="en-US" sz="1650" spc="300" dirty="0"/>
          </a:p>
        </p:txBody>
      </p:sp>
      <p:sp>
        <p:nvSpPr>
          <p:cNvPr id="10" name="Text 8"/>
          <p:cNvSpPr/>
          <p:nvPr/>
        </p:nvSpPr>
        <p:spPr>
          <a:xfrm>
            <a:off x="7632370" y="2901196"/>
            <a:ext cx="6020395" cy="68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Cobertura Temporal: 25 años (Enero 2000 - Octubre 2025)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46522" y="4077511"/>
            <a:ext cx="3367921" cy="421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Alcance</a:t>
            </a:r>
            <a:endParaRPr lang="en-US" sz="2650" dirty="0"/>
          </a:p>
        </p:txBody>
      </p:sp>
      <p:sp>
        <p:nvSpPr>
          <p:cNvPr id="12" name="Text 10"/>
          <p:cNvSpPr/>
          <p:nvPr/>
        </p:nvSpPr>
        <p:spPr>
          <a:xfrm>
            <a:off x="736270" y="4498516"/>
            <a:ext cx="2806541" cy="350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589C9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22 Commodities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6270" y="4812144"/>
            <a:ext cx="6308527" cy="682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Granos (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</a:rPr>
              <a:t>CBOT-Chicago Board of Trade): 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Soja, Maíz, Trigo, Avena. </a:t>
            </a:r>
          </a:p>
          <a:p>
            <a:pPr>
              <a:lnSpc>
                <a:spcPts val="2650"/>
              </a:lnSpc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Energía (NYMEX/ICE): WTI, Brent, Gas Natural, Gasoil, Nafta.</a:t>
            </a:r>
          </a:p>
          <a:p>
            <a:pPr>
              <a:lnSpc>
                <a:spcPts val="2650"/>
              </a:lnSpc>
            </a:pP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Metales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preciosos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(COMEX), Oro, Plata,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Platino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Paladio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</a:p>
          <a:p>
            <a:pPr>
              <a:lnSpc>
                <a:spcPts val="2650"/>
              </a:lnSpc>
            </a:pP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Metales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industriales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 Cobre.</a:t>
            </a:r>
          </a:p>
          <a:p>
            <a:pPr>
              <a:lnSpc>
                <a:spcPts val="2650"/>
              </a:lnSpc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Softs (ICE): café,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azúcar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algodón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cacao.</a:t>
            </a:r>
          </a:p>
          <a:p>
            <a:pPr marL="0" indent="0" algn="l">
              <a:lnSpc>
                <a:spcPts val="2650"/>
              </a:lnSpc>
              <a:buNone/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Ganado (CME): vivo, para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engorde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cerdos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magros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</a:p>
          <a:p>
            <a:pPr marL="0" indent="0" algn="l">
              <a:lnSpc>
                <a:spcPts val="2650"/>
              </a:lnSpc>
              <a:buNone/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Madera.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2972" y="4498516"/>
            <a:ext cx="2806541" cy="350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589C9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5 Predictores Macro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565099" y="4883339"/>
            <a:ext cx="6308527" cy="341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VIX (Volatilidad), </a:t>
            </a:r>
          </a:p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DXY (Índice Dólar), </a:t>
            </a:r>
          </a:p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S&amp;P 500, </a:t>
            </a:r>
          </a:p>
          <a:p>
            <a:pPr marL="0" indent="0" algn="l">
              <a:lnSpc>
                <a:spcPts val="2650"/>
              </a:lnSpc>
              <a:buNone/>
            </a:pPr>
            <a:r>
              <a:rPr lang="en-US" sz="165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Tasas</a:t>
            </a:r>
            <a:r>
              <a:rPr lang="en-US" sz="16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10Y,</a:t>
            </a:r>
          </a:p>
          <a:p>
            <a:pPr marL="0" indent="0" algn="l">
              <a:lnSpc>
                <a:spcPts val="2650"/>
              </a:lnSpc>
              <a:buNone/>
            </a:pPr>
            <a:r>
              <a:rPr lang="en-US" sz="1650" dirty="0" err="1">
                <a:solidFill>
                  <a:srgbClr val="384653"/>
                </a:solidFill>
                <a:latin typeface="Montserrat" pitchFamily="34" charset="0"/>
              </a:rPr>
              <a:t>Índices</a:t>
            </a:r>
            <a:r>
              <a:rPr lang="en-US" sz="1650" dirty="0">
                <a:solidFill>
                  <a:srgbClr val="384653"/>
                </a:solidFill>
                <a:latin typeface="Montserrat" pitchFamily="34" charset="0"/>
              </a:rPr>
              <a:t> </a:t>
            </a:r>
            <a:r>
              <a:rPr lang="en-US" sz="1650" dirty="0" err="1">
                <a:solidFill>
                  <a:srgbClr val="384653"/>
                </a:solidFill>
                <a:latin typeface="Montserrat" pitchFamily="34" charset="0"/>
              </a:rPr>
              <a:t>sectoriales</a:t>
            </a:r>
            <a:r>
              <a:rPr lang="en-US" sz="1650" dirty="0">
                <a:solidFill>
                  <a:srgbClr val="384653"/>
                </a:solidFill>
                <a:latin typeface="Montserrat" pitchFamily="34" charset="0"/>
              </a:rPr>
              <a:t>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754143" y="7267681"/>
            <a:ext cx="13137356" cy="906304"/>
          </a:xfrm>
          <a:prstGeom prst="roundRect">
            <a:avLst>
              <a:gd name="adj" fmla="val 35303"/>
            </a:avLst>
          </a:prstGeom>
          <a:solidFill>
            <a:srgbClr val="BEDFF3"/>
          </a:solidFill>
          <a:ln/>
        </p:spPr>
        <p:txBody>
          <a:bodyPr/>
          <a:lstStyle/>
          <a:p>
            <a:endParaRPr lang="es-AR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360" y="7469682"/>
            <a:ext cx="313974" cy="251151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516843" y="7472422"/>
            <a:ext cx="12231053" cy="341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1600" b="1" spc="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 Final:</a:t>
            </a:r>
            <a:r>
              <a:rPr lang="en-US" sz="1600" spc="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solo archivo con 6,537 filas (días </a:t>
            </a:r>
            <a:r>
              <a:rPr lang="en-US" sz="16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hábiles</a:t>
            </a:r>
            <a:r>
              <a:rPr lang="en-US" sz="16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 y 250 columnas (features: </a:t>
            </a:r>
            <a:r>
              <a:rPr lang="en-US" sz="16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precios</a:t>
            </a:r>
            <a:r>
              <a:rPr lang="en-US" sz="16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+ lags + rolling stats </a:t>
            </a:r>
          </a:p>
          <a:p>
            <a:r>
              <a:rPr lang="en-US" sz="16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</a:t>
            </a:r>
            <a:r>
              <a:rPr lang="en-US" sz="1600" dirty="0" err="1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retornos</a:t>
            </a:r>
            <a:r>
              <a:rPr lang="en-US" sz="16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 </a:t>
            </a:r>
            <a:r>
              <a:rPr lang="en-US" sz="1600" dirty="0" err="1">
                <a:solidFill>
                  <a:srgbClr val="000000"/>
                </a:solidFill>
                <a:latin typeface="Montserrat" pitchFamily="34" charset="0"/>
              </a:rPr>
              <a:t>Tamaño</a:t>
            </a:r>
            <a:r>
              <a:rPr lang="en-US" sz="1600" dirty="0">
                <a:solidFill>
                  <a:srgbClr val="000000"/>
                </a:solidFill>
                <a:latin typeface="Montserrat" pitchFamily="34" charset="0"/>
              </a:rPr>
              <a:t> del </a:t>
            </a:r>
            <a:r>
              <a:rPr lang="en-US" sz="1600" dirty="0" err="1">
                <a:solidFill>
                  <a:srgbClr val="000000"/>
                </a:solidFill>
                <a:latin typeface="Montserrat" pitchFamily="34" charset="0"/>
              </a:rPr>
              <a:t>Archivo</a:t>
            </a:r>
            <a:r>
              <a:rPr lang="en-US" sz="1600" dirty="0">
                <a:solidFill>
                  <a:srgbClr val="000000"/>
                </a:solidFill>
                <a:latin typeface="Montserrat" pitchFamily="34" charset="0"/>
              </a:rPr>
              <a:t>: 25 MB </a:t>
            </a:r>
            <a:r>
              <a:rPr lang="en-US" sz="1600" dirty="0" err="1">
                <a:solidFill>
                  <a:srgbClr val="000000"/>
                </a:solidFill>
                <a:latin typeface="Montserrat" pitchFamily="34" charset="0"/>
              </a:rPr>
              <a:t>en</a:t>
            </a:r>
            <a:r>
              <a:rPr lang="en-US" sz="1600" dirty="0">
                <a:solidFill>
                  <a:srgbClr val="000000"/>
                </a:solidFill>
                <a:latin typeface="Montserrat" pitchFamily="34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Montserrat" pitchFamily="34" charset="0"/>
              </a:rPr>
              <a:t>formato</a:t>
            </a:r>
            <a:r>
              <a:rPr lang="en-US" sz="1600" dirty="0">
                <a:solidFill>
                  <a:srgbClr val="000000"/>
                </a:solidFill>
                <a:latin typeface="Montserrat" pitchFamily="34" charset="0"/>
              </a:rPr>
              <a:t> CSV.</a:t>
            </a:r>
          </a:p>
          <a:p>
            <a:pPr marL="0" indent="0" algn="l">
              <a:lnSpc>
                <a:spcPts val="265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175742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El </a:t>
            </a:r>
            <a:r>
              <a:rPr lang="en-US" sz="4450" b="1" dirty="0">
                <a:solidFill>
                  <a:srgbClr val="75BAE6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Pipeline de Datos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1975009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6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Cómo lo hicimos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58309" y="2727484"/>
            <a:ext cx="1311378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Presentamos un pipeline automatizado que regenera la base completa en menos de 5 minutos.</a:t>
            </a:r>
            <a:endParaRPr lang="en-US" sz="2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09" y="3404592"/>
            <a:ext cx="4371261" cy="8665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74884" y="4487704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Descarga (Download)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74884" y="4973836"/>
            <a:ext cx="3938111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</a:t>
            </a:r>
            <a:r>
              <a:rPr lang="en-US" sz="17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bajan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los 27 activos (22 commodities + 5 predictores) desde Yahoo Finance.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4884" y="6143863"/>
            <a:ext cx="3938111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guardan como </a:t>
            </a:r>
            <a:r>
              <a:rPr lang="en-US" sz="17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archivos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CSV individuales.</a:t>
            </a:r>
            <a:endParaRPr lang="en-US" sz="17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570" y="3404592"/>
            <a:ext cx="4371261" cy="86653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46144" y="4487704"/>
            <a:ext cx="319873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Procesamiento (Process)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5346144" y="4973836"/>
            <a:ext cx="3938111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consolidan todos los CSV en una única base de datos.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346144" y="5797153"/>
            <a:ext cx="3938111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pivota la tabla a "formato ancho" (cada activo es una columna).</a:t>
            </a:r>
            <a:endParaRPr lang="en-US" sz="17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0830" y="3404592"/>
            <a:ext cx="4371261" cy="86653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717405" y="4487704"/>
            <a:ext cx="3938111" cy="71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Limpieza y Features (Clean &amp; Engineer)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9717405" y="5330071"/>
            <a:ext cx="3938111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aplica la limpieza y se calculan las 200+ variables nuevas.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62682F7-732A-6AD8-0A92-92C3C1BE3754}"/>
              </a:ext>
            </a:extLst>
          </p:cNvPr>
          <p:cNvSpPr/>
          <p:nvPr/>
        </p:nvSpPr>
        <p:spPr>
          <a:xfrm>
            <a:off x="5228657" y="6740963"/>
            <a:ext cx="8643434" cy="1431161"/>
          </a:xfrm>
          <a:prstGeom prst="roundRect">
            <a:avLst/>
          </a:prstGeom>
          <a:gradFill>
            <a:gsLst>
              <a:gs pos="0">
                <a:schemeClr val="accent1">
                  <a:lumMod val="67000"/>
                </a:schemeClr>
              </a:gs>
              <a:gs pos="25000">
                <a:schemeClr val="tx2">
                  <a:lumMod val="50000"/>
                  <a:lumOff val="50000"/>
                </a:schemeClr>
              </a:gs>
              <a:gs pos="98000">
                <a:schemeClr val="accent1">
                  <a:lumMod val="60000"/>
                  <a:lumOff val="40000"/>
                  <a:alpha val="45000"/>
                </a:schemeClr>
              </a:gs>
            </a:gsLst>
            <a:lin ang="16200000" scaled="1"/>
          </a:gradFill>
          <a:ln>
            <a:solidFill>
              <a:srgbClr val="B5E4F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22" name="Shape 2">
            <a:extLst>
              <a:ext uri="{FF2B5EF4-FFF2-40B4-BE49-F238E27FC236}">
                <a16:creationId xmlns:a16="http://schemas.microsoft.com/office/drawing/2014/main" id="{A23EF279-2B9F-1175-10E9-2E63A32D530A}"/>
              </a:ext>
            </a:extLst>
          </p:cNvPr>
          <p:cNvSpPr/>
          <p:nvPr/>
        </p:nvSpPr>
        <p:spPr>
          <a:xfrm>
            <a:off x="9706214" y="2190511"/>
            <a:ext cx="4165877" cy="4226815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 w="30480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D7461A31-940B-5457-FC93-4817A8B567F8}"/>
              </a:ext>
            </a:extLst>
          </p:cNvPr>
          <p:cNvSpPr/>
          <p:nvPr/>
        </p:nvSpPr>
        <p:spPr>
          <a:xfrm>
            <a:off x="5265944" y="2165745"/>
            <a:ext cx="4165877" cy="4251581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 w="30480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" name="Text 0"/>
          <p:cNvSpPr/>
          <p:nvPr/>
        </p:nvSpPr>
        <p:spPr>
          <a:xfrm>
            <a:off x="758309" y="800695"/>
            <a:ext cx="9092089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Proceso de </a:t>
            </a:r>
            <a:r>
              <a:rPr lang="en-US" sz="4450" b="1" dirty="0">
                <a:solidFill>
                  <a:srgbClr val="75BAE6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Limpieza</a:t>
            </a:r>
            <a:r>
              <a:rPr lang="en-US" sz="44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 y Confiabilidad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1513403"/>
            <a:ext cx="1311378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asegurar la "confiabilidad", aplicamos un proceso de limpieza robusto: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58309" y="2190511"/>
            <a:ext cx="4165877" cy="4525686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 w="30480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919" y="2190511"/>
            <a:ext cx="114830" cy="45256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6804" y="2437566"/>
            <a:ext cx="3641288" cy="855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4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Valores </a:t>
            </a:r>
            <a:r>
              <a:rPr lang="en-US" sz="2400" b="1" dirty="0" err="1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Faltantes</a:t>
            </a:r>
            <a:r>
              <a:rPr lang="en-US" sz="24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* (Missing Values)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096804" y="3422570"/>
            <a:ext cx="364128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Causa</a:t>
            </a:r>
            <a:r>
              <a:rPr lang="en-US" sz="16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</a:t>
            </a:r>
            <a:r>
              <a:rPr lang="en-US" sz="16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Feriados, fines de semana, o gaps en la fuente (ej. Brent empieza en 2006).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6804" y="4462700"/>
            <a:ext cx="364128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Solución (Precios):</a:t>
            </a:r>
            <a:r>
              <a:rPr lang="en-US" sz="1600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6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Relleno con forward-fill (arrastrar último valor) y backward-fill.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96804" y="5589448"/>
            <a:ext cx="364128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Solución (Volumen):</a:t>
            </a:r>
            <a:r>
              <a:rPr lang="en-US" sz="1600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6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Rellenar con 0 (asume no hubo trading).</a:t>
            </a:r>
            <a:endParaRPr lang="en-US" sz="1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1242" y="2190511"/>
            <a:ext cx="107247" cy="42268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40216" y="2437566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4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Validación de Datos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5540216" y="2995017"/>
            <a:ext cx="364128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chequea que High &gt;= Low y que Close esté en ese rango.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540216" y="3764160"/>
            <a:ext cx="364128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marcan precios inválidos (≤ 0) como NaN.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4654" y="2190511"/>
            <a:ext cx="107875" cy="425158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983629" y="2437566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4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Duplicados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9983629" y="2995017"/>
            <a:ext cx="364140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eliminan filas duplicadas por fecha.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F3F586-41A6-A5E4-4A6E-B89AE51D3FC2}"/>
              </a:ext>
            </a:extLst>
          </p:cNvPr>
          <p:cNvSpPr txBox="1"/>
          <p:nvPr/>
        </p:nvSpPr>
        <p:spPr>
          <a:xfrm>
            <a:off x="5540216" y="6744727"/>
            <a:ext cx="6101449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600"/>
              </a:spcAft>
              <a:buNone/>
            </a:pPr>
            <a:r>
              <a:rPr lang="en-US" b="1" i="0" dirty="0">
                <a:solidFill>
                  <a:schemeClr val="bg2">
                    <a:lumMod val="25000"/>
                  </a:schemeClr>
                </a:solidFill>
                <a:effectLst/>
              </a:rPr>
              <a:t>* </a:t>
            </a:r>
            <a:r>
              <a:rPr lang="en-US" b="1" i="0" dirty="0" err="1">
                <a:solidFill>
                  <a:schemeClr val="bg2">
                    <a:lumMod val="25000"/>
                  </a:schemeClr>
                </a:solidFill>
                <a:effectLst/>
              </a:rPr>
              <a:t>Estadística</a:t>
            </a:r>
            <a:r>
              <a:rPr lang="en-US" b="1" i="0" dirty="0">
                <a:solidFill>
                  <a:schemeClr val="bg2">
                    <a:lumMod val="25000"/>
                  </a:schemeClr>
                </a:solidFill>
                <a:effectLst/>
              </a:rPr>
              <a:t> Final de Missing Values:</a:t>
            </a:r>
          </a:p>
          <a:p>
            <a:pPr lvl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chemeClr val="bg2"/>
                </a:solidFill>
                <a:effectLst/>
              </a:rPr>
              <a:t> </a:t>
            </a:r>
            <a:r>
              <a:rPr lang="en-US" b="1" i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Brent_Crude</a:t>
            </a:r>
            <a:r>
              <a:rPr lang="en-US" b="1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  <a:r>
              <a:rPr lang="en-US" b="0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 30.55% (</a:t>
            </a:r>
            <a:r>
              <a:rPr lang="en-US" b="0" i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inicio</a:t>
            </a:r>
            <a:r>
              <a:rPr lang="en-US" b="0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de trading </a:t>
            </a:r>
            <a:r>
              <a:rPr lang="en-US" b="0" i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</a:t>
            </a:r>
            <a:r>
              <a:rPr lang="en-US" b="0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2006)</a:t>
            </a:r>
          </a:p>
          <a:p>
            <a:pPr lvl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Granos </a:t>
            </a:r>
            <a:r>
              <a:rPr lang="en-US" b="1" i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principales</a:t>
            </a:r>
            <a:r>
              <a:rPr lang="en-US" b="1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  <a:r>
              <a:rPr lang="en-US" b="0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 &lt; 3.5%</a:t>
            </a:r>
          </a:p>
          <a:p>
            <a:pPr lvl="1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b="1" i="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Predictores</a:t>
            </a:r>
            <a:r>
              <a:rPr lang="en-US" b="1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</a:t>
            </a:r>
            <a:r>
              <a:rPr lang="en-US" b="0" i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 &lt; 1%</a:t>
            </a: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6A7E80C4-42A3-E722-5FFD-7ADBA9BA06E3}"/>
              </a:ext>
            </a:extLst>
          </p:cNvPr>
          <p:cNvSpPr/>
          <p:nvPr/>
        </p:nvSpPr>
        <p:spPr>
          <a:xfrm rot="10800000" flipH="1">
            <a:off x="2673315" y="6886481"/>
            <a:ext cx="2064777" cy="936435"/>
          </a:xfrm>
          <a:prstGeom prst="ben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2103" y="507683"/>
            <a:ext cx="4753332" cy="594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0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Creación de </a:t>
            </a:r>
            <a:r>
              <a:rPr lang="en-US" sz="3700" b="1" dirty="0">
                <a:solidFill>
                  <a:srgbClr val="75BAE6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Variables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32103" y="1173956"/>
            <a:ext cx="2851904" cy="356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Feature Engineering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32103" y="1801177"/>
            <a:ext cx="13366194" cy="361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solo usamos el precio de cierre; creamos </a:t>
            </a:r>
            <a:r>
              <a:rPr lang="en-US" sz="175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216 </a:t>
            </a:r>
            <a:r>
              <a:rPr lang="en-US" sz="175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features nuevas</a:t>
            </a:r>
            <a:r>
              <a:rPr lang="en-US" sz="1750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7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capturar el contexto del mercado: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32103" y="2365415"/>
            <a:ext cx="6592729" cy="2587943"/>
          </a:xfrm>
          <a:prstGeom prst="roundRect">
            <a:avLst>
              <a:gd name="adj" fmla="val 10469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1" y="2553652"/>
            <a:ext cx="541853" cy="541853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9288" y="2702600"/>
            <a:ext cx="243840" cy="243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0341" y="3276124"/>
            <a:ext cx="2376607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Variables Temporales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820341" y="3681532"/>
            <a:ext cx="6216253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features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20341" y="4078843"/>
            <a:ext cx="6216253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Capturan estacionalidad (mes, trimestre, día de la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semana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 del </a:t>
            </a:r>
            <a:r>
              <a:rPr lang="en-US" sz="14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año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7405449" y="2365415"/>
            <a:ext cx="6592848" cy="2587943"/>
          </a:xfrm>
          <a:prstGeom prst="roundRect">
            <a:avLst>
              <a:gd name="adj" fmla="val 10469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3687" y="2553652"/>
            <a:ext cx="541853" cy="541853"/>
          </a:xfrm>
          <a:prstGeom prst="rect">
            <a:avLst/>
          </a:prstGeom>
        </p:spPr>
      </p:pic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2634" y="2702600"/>
            <a:ext cx="243840" cy="2438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593687" y="3276124"/>
            <a:ext cx="2376607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Lags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7593687" y="3681532"/>
            <a:ext cx="6216372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 features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7593687" y="4078843"/>
            <a:ext cx="6216372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Precio de ayer (lag_1) y de la semana pasada (lag_7).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7593687" y="4476155"/>
            <a:ext cx="6216372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Capturan inercia y momentum.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32103" y="5133975"/>
            <a:ext cx="6592729" cy="2587943"/>
          </a:xfrm>
          <a:prstGeom prst="roundRect">
            <a:avLst>
              <a:gd name="adj" fmla="val 10469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341" y="5322213"/>
            <a:ext cx="541853" cy="541853"/>
          </a:xfrm>
          <a:prstGeom prst="rect">
            <a:avLst/>
          </a:prstGeom>
        </p:spPr>
      </p:pic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9288" y="5471160"/>
            <a:ext cx="243840" cy="2438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20341" y="6044684"/>
            <a:ext cx="2376607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Rolling Statistics</a:t>
            </a:r>
            <a:endParaRPr lang="en-US" sz="1850" dirty="0"/>
          </a:p>
        </p:txBody>
      </p:sp>
      <p:sp>
        <p:nvSpPr>
          <p:cNvPr id="22" name="Text 14"/>
          <p:cNvSpPr/>
          <p:nvPr/>
        </p:nvSpPr>
        <p:spPr>
          <a:xfrm>
            <a:off x="820341" y="6450092"/>
            <a:ext cx="6216253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 features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820341" y="6847403"/>
            <a:ext cx="6216253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Medias móviles (SMA 7 y 30 días) para identificar tendencias.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820341" y="7244715"/>
            <a:ext cx="6216253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Desviación estándar (Std 7 y 30 días) para medir la volatilidad.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7405449" y="5133975"/>
            <a:ext cx="6592848" cy="2587943"/>
          </a:xfrm>
          <a:prstGeom prst="roundRect">
            <a:avLst>
              <a:gd name="adj" fmla="val 10469"/>
            </a:avLst>
          </a:prstGeom>
          <a:solidFill>
            <a:srgbClr val="D4E9F7"/>
          </a:solidFill>
          <a:ln w="7620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93687" y="5322213"/>
            <a:ext cx="541853" cy="541853"/>
          </a:xfrm>
          <a:prstGeom prst="rect">
            <a:avLst/>
          </a:prstGeom>
        </p:spPr>
      </p:pic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742634" y="5471160"/>
            <a:ext cx="243840" cy="24384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7593687" y="6044684"/>
            <a:ext cx="2376607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Retornos</a:t>
            </a:r>
            <a:endParaRPr lang="en-US" sz="1850" dirty="0"/>
          </a:p>
        </p:txBody>
      </p:sp>
      <p:sp>
        <p:nvSpPr>
          <p:cNvPr id="29" name="Text 19"/>
          <p:cNvSpPr/>
          <p:nvPr/>
        </p:nvSpPr>
        <p:spPr>
          <a:xfrm>
            <a:off x="7593687" y="6450092"/>
            <a:ext cx="6216372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 features</a:t>
            </a:r>
            <a:endParaRPr lang="en-US" sz="1400" dirty="0"/>
          </a:p>
        </p:txBody>
      </p:sp>
      <p:sp>
        <p:nvSpPr>
          <p:cNvPr id="30" name="Text 20"/>
          <p:cNvSpPr/>
          <p:nvPr/>
        </p:nvSpPr>
        <p:spPr>
          <a:xfrm>
            <a:off x="7593687" y="6847403"/>
            <a:ext cx="6216372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Cambio porcentual diario (return_1) y semanal (return_7).</a:t>
            </a:r>
            <a:endParaRPr lang="en-US" sz="1400" dirty="0"/>
          </a:p>
        </p:txBody>
      </p:sp>
      <p:sp>
        <p:nvSpPr>
          <p:cNvPr id="31" name="Text 21"/>
          <p:cNvSpPr/>
          <p:nvPr/>
        </p:nvSpPr>
        <p:spPr>
          <a:xfrm>
            <a:off x="7593687" y="7244715"/>
            <a:ext cx="6216372" cy="288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Esencial para modelado (vuelve la serie estacionaria).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789920" y="0"/>
            <a:ext cx="384048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8309" y="399331"/>
            <a:ext cx="8530114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Hallazgos </a:t>
            </a:r>
            <a:r>
              <a:rPr lang="en-US" sz="4450" b="1" dirty="0">
                <a:solidFill>
                  <a:srgbClr val="75BAE6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Destacados</a:t>
            </a:r>
            <a:r>
              <a:rPr lang="en-US" sz="44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 del </a:t>
            </a:r>
            <a:r>
              <a:rPr lang="en-US" sz="4450" b="1" dirty="0" err="1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Análisis</a:t>
            </a:r>
            <a:r>
              <a:rPr lang="en-US" sz="44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 </a:t>
            </a:r>
          </a:p>
          <a:p>
            <a:pPr marL="0" indent="0" algn="l">
              <a:lnSpc>
                <a:spcPts val="5600"/>
              </a:lnSpc>
              <a:buNone/>
            </a:pPr>
            <a:r>
              <a:rPr lang="en-US" sz="4450" b="1" dirty="0" err="1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Exploratorio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58309" y="1831205"/>
            <a:ext cx="94561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base de datos revela patrones históricos claros: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758309" y="2259468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650" b="1" dirty="0">
                <a:solidFill>
                  <a:srgbClr val="2589C9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Correlaciones Fuertes</a:t>
            </a:r>
            <a:endParaRPr lang="en-US" sz="2650" dirty="0"/>
          </a:p>
        </p:txBody>
      </p:sp>
      <p:sp>
        <p:nvSpPr>
          <p:cNvPr id="6" name="Text 3"/>
          <p:cNvSpPr/>
          <p:nvPr/>
        </p:nvSpPr>
        <p:spPr>
          <a:xfrm>
            <a:off x="4560332" y="2685152"/>
            <a:ext cx="622958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Brent vs WTI (Petróleo): 0.97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 (Casi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idénticos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2">
                    <a:lumMod val="25000"/>
                  </a:schemeClr>
                </a:solidFill>
              </a:rPr>
              <a:t>Ganado Feeder vs Live Cattle: 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0.98 → Cadena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productiva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conectada</a:t>
            </a:r>
            <a:endParaRPr lang="en-US" sz="1600" dirty="0">
              <a:solidFill>
                <a:schemeClr val="bg2">
                  <a:lumMod val="25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2">
                    <a:lumMod val="25000"/>
                  </a:schemeClr>
                </a:solidFill>
              </a:rPr>
              <a:t>Heating Oil vs RBOB Gasoline: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 0.96 →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Derivados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 del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petróleo</a:t>
            </a:r>
            <a:endParaRPr lang="en-US" sz="1600" dirty="0">
              <a:solidFill>
                <a:schemeClr val="bg2">
                  <a:lumMod val="25000"/>
                </a:schemeClr>
              </a:solidFill>
            </a:endParaRPr>
          </a:p>
          <a:p>
            <a:pPr marL="285750" indent="-285750" algn="l">
              <a:lnSpc>
                <a:spcPts val="2700"/>
              </a:lnSpc>
              <a:buSzPct val="100000"/>
              <a:buFont typeface="Arial" panose="020B0604020202020204" pitchFamily="34" charset="0"/>
              <a:buChar char="•"/>
            </a:pPr>
            <a:endParaRPr lang="en-US" sz="1700" dirty="0">
              <a:solidFill>
                <a:schemeClr val="bg2">
                  <a:lumMod val="25000"/>
                </a:schemeClr>
              </a:solidFill>
              <a:ea typeface="Montserrat" pitchFamily="34" charset="-122"/>
              <a:cs typeface="Montserrat" pitchFamily="34" charset="-120"/>
            </a:endParaRPr>
          </a:p>
          <a:p>
            <a:pPr marL="285750" indent="-285750" algn="l">
              <a:lnSpc>
                <a:spcPts val="2700"/>
              </a:lnSpc>
              <a:buSzPct val="100000"/>
              <a:buFont typeface="Arial" panose="020B0604020202020204" pitchFamily="34" charset="0"/>
              <a:buChar char="•"/>
            </a:pPr>
            <a:endParaRPr lang="en-US" sz="17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4560332" y="3849560"/>
            <a:ext cx="6371371" cy="797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Maíz vs Soja: 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0.92 (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C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ompetencia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 por tierra).</a:t>
            </a:r>
          </a:p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2">
                    <a:lumMod val="25000"/>
                  </a:schemeClr>
                </a:solidFill>
              </a:rPr>
              <a:t>Oro vs Plata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: 0.88 →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Metales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preciosos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 con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alta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correlación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histórica</a:t>
            </a:r>
            <a:endParaRPr lang="en-US" sz="1600" dirty="0">
              <a:solidFill>
                <a:schemeClr val="bg2">
                  <a:lumMod val="25000"/>
                </a:schemeClr>
              </a:solidFill>
            </a:endParaRPr>
          </a:p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bg2">
                    <a:lumMod val="25000"/>
                  </a:schemeClr>
                </a:solidFill>
              </a:rPr>
              <a:t>Maíz</a:t>
            </a:r>
            <a:r>
              <a:rPr lang="en-US" sz="1600" b="1" dirty="0">
                <a:solidFill>
                  <a:schemeClr val="bg2">
                    <a:lumMod val="25000"/>
                  </a:schemeClr>
                </a:solidFill>
              </a:rPr>
              <a:t> vs Trigo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: 0.88 → Granos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substitutos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</a:rPr>
              <a:t>parciales</a:t>
            </a:r>
            <a:endParaRPr lang="en-US" sz="1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4560332" y="5036886"/>
            <a:ext cx="6371371" cy="560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Oro vs S&amp;P 500: 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0.85 (Ambos suben en expansión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económica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ea typeface="Montserrat" pitchFamily="34" charset="-122"/>
                <a:cs typeface="Montserrat" pitchFamily="34" charset="-120"/>
              </a:rPr>
              <a:t>).</a:t>
            </a:r>
          </a:p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ES" sz="1600" b="1" dirty="0" err="1">
                <a:solidFill>
                  <a:schemeClr val="bg2">
                    <a:lumMod val="25000"/>
                  </a:schemeClr>
                </a:solidFill>
              </a:rPr>
              <a:t>Platinum</a:t>
            </a:r>
            <a:r>
              <a:rPr lang="es-ES" sz="1600" b="1" dirty="0">
                <a:solidFill>
                  <a:schemeClr val="bg2">
                    <a:lumMod val="25000"/>
                  </a:schemeClr>
                </a:solidFill>
              </a:rPr>
              <a:t> vs DXY</a:t>
            </a:r>
            <a:r>
              <a:rPr lang="es-ES" sz="1600" dirty="0">
                <a:solidFill>
                  <a:schemeClr val="bg2">
                    <a:lumMod val="25000"/>
                  </a:schemeClr>
                </a:solidFill>
              </a:rPr>
              <a:t>: -0.81 → Correlación NEGATIVA fuerte.</a:t>
            </a:r>
            <a:endParaRPr lang="en-US" sz="1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758309" y="6266035"/>
            <a:ext cx="424767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000" b="1" dirty="0">
                <a:solidFill>
                  <a:srgbClr val="063E5F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Impacto de Eventos Críticos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58309" y="6727454"/>
            <a:ext cx="94561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4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Crisis</a:t>
            </a:r>
            <a:r>
              <a:rPr lang="en-US" sz="14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2008: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Caída del petróleo ($147 a $30), subida del Oro (refugio).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58309" y="7149888"/>
            <a:ext cx="94561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4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COVID-19 (2020):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Petróleo WTI con precio negativo (-$37) y VIX en picos históricos.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58309" y="7572321"/>
            <a:ext cx="94561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4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Guerra Ucrania </a:t>
            </a:r>
            <a:r>
              <a:rPr lang="en-US" sz="14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(2022):</a:t>
            </a:r>
            <a:r>
              <a:rPr lang="en-US" sz="14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Fuerte suba del Trigo (+50% en 2 semanas).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2D82DC-49BB-DF14-0510-DAC758AE04F0}"/>
              </a:ext>
            </a:extLst>
          </p:cNvPr>
          <p:cNvSpPr txBox="1"/>
          <p:nvPr/>
        </p:nvSpPr>
        <p:spPr>
          <a:xfrm>
            <a:off x="758309" y="2749096"/>
            <a:ext cx="3802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1F2328"/>
                </a:solidFill>
                <a:effectLst/>
              </a:rPr>
              <a:t>Intra-Commodity (</a:t>
            </a:r>
            <a:r>
              <a:rPr lang="en-US" b="1" i="0" dirty="0" err="1">
                <a:solidFill>
                  <a:srgbClr val="1F2328"/>
                </a:solidFill>
                <a:effectLst/>
              </a:rPr>
              <a:t>Misma</a:t>
            </a:r>
            <a:r>
              <a:rPr lang="en-US" b="1" i="0" dirty="0">
                <a:solidFill>
                  <a:srgbClr val="1F2328"/>
                </a:solidFill>
                <a:effectLst/>
              </a:rPr>
              <a:t> Familia)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F5BCB9-D50B-1445-C7EB-3372DA144AA0}"/>
              </a:ext>
            </a:extLst>
          </p:cNvPr>
          <p:cNvSpPr txBox="1"/>
          <p:nvPr/>
        </p:nvSpPr>
        <p:spPr>
          <a:xfrm>
            <a:off x="750996" y="3849560"/>
            <a:ext cx="3802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1F2328"/>
                </a:solidFill>
                <a:effectLst/>
              </a:rPr>
              <a:t>Inter-Commodity (Cross-Asset)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0E1FF8-A2DC-E6DD-CD76-59052C270A13}"/>
              </a:ext>
            </a:extLst>
          </p:cNvPr>
          <p:cNvSpPr txBox="1"/>
          <p:nvPr/>
        </p:nvSpPr>
        <p:spPr>
          <a:xfrm>
            <a:off x="758309" y="5023384"/>
            <a:ext cx="3802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1F2328"/>
                </a:solidFill>
                <a:effectLst/>
              </a:rPr>
              <a:t>Commodity-Macro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2F0748-D348-ED15-3D53-6397F7FA9CE4}"/>
              </a:ext>
            </a:extLst>
          </p:cNvPr>
          <p:cNvSpPr txBox="1"/>
          <p:nvPr/>
        </p:nvSpPr>
        <p:spPr>
          <a:xfrm>
            <a:off x="616526" y="5826112"/>
            <a:ext cx="10173394" cy="36933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i="1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Implicancia</a:t>
            </a:r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 para </a:t>
            </a:r>
            <a:r>
              <a:rPr lang="en-US" i="1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Modelado</a:t>
            </a:r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: </a:t>
            </a:r>
            <a:r>
              <a:rPr lang="en-US" i="1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Multicolinealidad</a:t>
            </a:r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 </a:t>
            </a:r>
            <a:r>
              <a:rPr lang="en-US" i="1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alta</a:t>
            </a:r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 → Usar PCA o </a:t>
            </a:r>
            <a:r>
              <a:rPr lang="en-US" i="1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selección</a:t>
            </a:r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 de features.</a:t>
            </a:r>
            <a:endParaRPr lang="es-AR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344692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Próximos </a:t>
            </a:r>
            <a:r>
              <a:rPr lang="en-US" sz="4450" b="1" dirty="0">
                <a:solidFill>
                  <a:srgbClr val="75BAE6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Pasos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2143958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6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Ideas a Desarrollar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58309" y="2896433"/>
            <a:ext cx="13113782" cy="433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 base es la Fase 1. La Fase 2 es el Modelado Predictivo: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58309" y="3573542"/>
            <a:ext cx="216575" cy="270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anose="00000500000000000000" pitchFamily="2" charset="0"/>
                <a:ea typeface="Barlow Light" pitchFamily="34" charset="-122"/>
                <a:cs typeface="Barlow Light" pitchFamily="34" charset="-120"/>
              </a:rPr>
              <a:t>01</a:t>
            </a:r>
            <a:endParaRPr lang="en-US" sz="1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09" y="3911084"/>
            <a:ext cx="4226838" cy="3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309" y="408027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Selección de Variables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309" y="4566404"/>
            <a:ext cx="4226838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Tenemos 250 features. </a:t>
            </a:r>
          </a:p>
          <a:p>
            <a:pPr marL="0" indent="0" algn="l">
              <a:lnSpc>
                <a:spcPts val="2700"/>
              </a:lnSpc>
              <a:buNone/>
            </a:pPr>
            <a:r>
              <a:rPr lang="en-US" sz="1700" dirty="0" err="1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Usaremos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PCA o Recursive Feature Elimination (RFE) para reducirlas y evitar multicolinealidad.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201722" y="3573542"/>
            <a:ext cx="216575" cy="270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anose="00000500000000000000" pitchFamily="2" charset="0"/>
                <a:ea typeface="Barlow Light" pitchFamily="34" charset="-122"/>
                <a:cs typeface="Barlow Light" pitchFamily="34" charset="-120"/>
              </a:rPr>
              <a:t>02</a:t>
            </a:r>
            <a:endParaRPr lang="en-US" sz="17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1722" y="3911084"/>
            <a:ext cx="4226838" cy="30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01722" y="408027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Modelos a Probar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201722" y="4566404"/>
            <a:ext cx="422683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</a:t>
            </a: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ARIMA, Regresión Lineal.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201722" y="4988838"/>
            <a:ext cx="422683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Machine Learning:</a:t>
            </a:r>
            <a:r>
              <a:rPr lang="en-US" sz="1700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 Forest y XGBoost.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201722" y="5757982"/>
            <a:ext cx="422683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Learning:</a:t>
            </a:r>
            <a:r>
              <a:rPr lang="en-US" sz="1700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LSTM (especial para series temporales).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9645134" y="3573542"/>
            <a:ext cx="216575" cy="270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anose="00000500000000000000" pitchFamily="2" charset="0"/>
                <a:ea typeface="Barlow Light" pitchFamily="34" charset="-122"/>
                <a:cs typeface="Barlow Light" pitchFamily="34" charset="-120"/>
              </a:rPr>
              <a:t>03</a:t>
            </a:r>
            <a:endParaRPr lang="en-US" sz="17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5134" y="3911084"/>
            <a:ext cx="4226957" cy="30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45134" y="408027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Evaluación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9645134" y="4566404"/>
            <a:ext cx="4226957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Backtesting</a:t>
            </a: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Simular una estrategia de trading con las predicciones pasadas.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9645134" y="5682258"/>
            <a:ext cx="4226957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700" b="1" spc="3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Métricas</a:t>
            </a:r>
            <a:r>
              <a:rPr lang="en-US" sz="1700" b="1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</a:t>
            </a: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RMSE (para precio) y Accuracy (para dirección: sube/baja).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309" y="1051917"/>
            <a:ext cx="6503432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b="1" dirty="0" err="1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Conclusiones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58309" y="2306122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650" b="1" dirty="0">
                <a:solidFill>
                  <a:srgbClr val="2589C9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Lo que construimos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58309" y="2950250"/>
            <a:ext cx="13121402" cy="1300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es solo un CSV, es un proyecto de software con un pipeline automatizado, escalable y reproducible.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587139" y="2284452"/>
            <a:ext cx="629257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58309" y="4770239"/>
            <a:ext cx="3420904" cy="4275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650" b="1" dirty="0">
                <a:solidFill>
                  <a:srgbClr val="2E3C4E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Valor Agregado</a:t>
            </a:r>
            <a:endParaRPr lang="en-US" sz="26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8309" y="5522714"/>
            <a:ext cx="541615" cy="54161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70673" y="565130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Automatizado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570673" y="6137434"/>
            <a:ext cx="3378398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regenera en &lt; 5 minutos.</a:t>
            </a:r>
            <a:endParaRPr lang="en-US" sz="17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19819" y="5522714"/>
            <a:ext cx="541615" cy="5416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032183" y="5651302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Escalable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6032183" y="6137434"/>
            <a:ext cx="337839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Agregar un nuevo commodity solo requiere editar 1 línea en un config.py.</a:t>
            </a:r>
            <a:endParaRPr lang="en-US" sz="17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81329" y="5522714"/>
            <a:ext cx="541615" cy="54161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493693" y="5651302"/>
            <a:ext cx="2971562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384653"/>
                </a:solidFill>
                <a:latin typeface="Aptos" panose="020B0004020202020204" pitchFamily="34" charset="0"/>
                <a:ea typeface="Barlow Bold" pitchFamily="34" charset="-122"/>
                <a:cs typeface="Barlow Bold" pitchFamily="34" charset="-120"/>
              </a:rPr>
              <a:t>Fuente de Verdad Única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10493693" y="6137434"/>
            <a:ext cx="3378398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el equipo trabaja sobre los mismos datos validados.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255</TotalTime>
  <Words>1046</Words>
  <Application>Microsoft Office PowerPoint</Application>
  <PresentationFormat>Custom</PresentationFormat>
  <Paragraphs>135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Aptos Display</vt:lpstr>
      <vt:lpstr>Aptos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Paula Ramirez</cp:lastModifiedBy>
  <cp:revision>19</cp:revision>
  <dcterms:created xsi:type="dcterms:W3CDTF">2025-11-03T18:08:17Z</dcterms:created>
  <dcterms:modified xsi:type="dcterms:W3CDTF">2025-11-03T22:23:47Z</dcterms:modified>
</cp:coreProperties>
</file>